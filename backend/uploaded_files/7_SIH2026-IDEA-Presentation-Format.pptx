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sldIdLst>
    <p:sldId id="291" r:id="rId2"/>
    <p:sldId id="281" r:id="rId3"/>
    <p:sldId id="290" r:id="rId4"/>
    <p:sldId id="293" r:id="rId5"/>
    <p:sldId id="294" r:id="rId6"/>
    <p:sldId id="296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297" r:id="rId15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2EF4AA2-8B26-41E8-88AD-CDAE6C9B83EE}">
          <p14:sldIdLst>
            <p14:sldId id="291"/>
            <p14:sldId id="281"/>
            <p14:sldId id="290"/>
            <p14:sldId id="293"/>
            <p14:sldId id="294"/>
            <p14:sldId id="296"/>
            <p14:sldId id="298"/>
            <p14:sldId id="299"/>
            <p14:sldId id="300"/>
            <p14:sldId id="301"/>
            <p14:sldId id="302"/>
            <p14:sldId id="303"/>
            <p14:sldId id="304"/>
          </p14:sldIdLst>
        </p14:section>
        <p14:section name="Untitled Section" id="{1C6163E3-043A-42C6-AA05-F88FD09B1332}">
          <p14:sldIdLst>
            <p14:sldId id="29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1" d="100"/>
          <a:sy n="61" d="100"/>
        </p:scale>
        <p:origin x="860" y="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13527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6424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8472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30830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45684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57918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67349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809948"/>
            <a:ext cx="9144000" cy="4178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SIH26189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b="1" dirty="0"/>
              <a:t>AI-Powered </a:t>
            </a:r>
          </a:p>
          <a:p>
            <a:pPr algn="just">
              <a:lnSpc>
                <a:spcPct val="150000"/>
              </a:lnSpc>
            </a:pPr>
            <a:r>
              <a:rPr lang="en-US" sz="2400" b="1" dirty="0"/>
              <a:t>    Criminal Network Analysis System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b="1" dirty="0"/>
              <a:t>Blockchain &amp; Cybersecurity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NETRESCUE 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52551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NEXUS – 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Networked Evidence &amp; Investigation Intelligence System</a:t>
            </a:r>
            <a:br>
              <a:rPr lang="en-US" sz="1600" b="1" dirty="0"/>
            </a:br>
            <a:endParaRPr lang="en-US" sz="38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82999" y="1159904"/>
            <a:ext cx="7142712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Problem Statement :</a:t>
            </a:r>
          </a:p>
          <a:p>
            <a:endParaRPr lang="en-IN" sz="2800" b="1" dirty="0"/>
          </a:p>
          <a:p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0953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NETRESCUE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4C18EDD-AE69-4D3E-8C0F-DFC0EB48BA16}"/>
              </a:ext>
            </a:extLst>
          </p:cNvPr>
          <p:cNvSpPr txBox="1"/>
          <p:nvPr/>
        </p:nvSpPr>
        <p:spPr>
          <a:xfrm>
            <a:off x="329773" y="2003171"/>
            <a:ext cx="6096000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🚨 The Investigation Data Problem</a:t>
            </a:r>
          </a:p>
          <a:p>
            <a:r>
              <a:rPr lang="en-US" sz="1800" dirty="0"/>
              <a:t>Modern investigations generate information from multiple sources: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FIRs &amp; case documents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Call Detail Records (CDR)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Location/GPS records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CCTV/video evidence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Vehicle information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Financial/transaction records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Previous case records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Forensic evidence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Other legally authorized sources 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B07FA76-8930-441C-9BE8-59182E424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9062" y="1979718"/>
            <a:ext cx="5423338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Key Problem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information exists, but connecting the right pieces at the right time is difficult and highly manpower-intensive.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GAP</a:t>
            </a:r>
            <a:endParaRPr lang="en-US" sz="30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150A92B-3D10-4C4E-BC63-93604F673E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541377"/>
              </p:ext>
            </p:extLst>
          </p:nvPr>
        </p:nvGraphicFramePr>
        <p:xfrm>
          <a:off x="609600" y="1964849"/>
          <a:ext cx="10972800" cy="411480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3141282918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9742102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400" dirty="0"/>
                        <a:t>Challenge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Impact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0795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Data stored in different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Slow correlation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788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dirty="0"/>
                        <a:t>Large volume of records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High manual workload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543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dirty="0"/>
                        <a:t>Different formats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Difficult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6624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dirty="0"/>
                        <a:t>Hidden relationships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Important links may be missed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0082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dirty="0"/>
                        <a:t>Cross-case comparison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Time-consuming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63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Timeline reconstruction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Manual effort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4018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Evidence scattered across sources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Difficult to see the complete picture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874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Lack of explainability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Difficult to trust automated results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954148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24448EC-FA87-4350-A9B1-D66E17F531E7}"/>
              </a:ext>
            </a:extLst>
          </p:cNvPr>
          <p:cNvSpPr txBox="1"/>
          <p:nvPr/>
        </p:nvSpPr>
        <p:spPr>
          <a:xfrm>
            <a:off x="609599" y="1063837"/>
            <a:ext cx="78827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Why Existing Investigation Workflows Struggle ?</a:t>
            </a:r>
            <a:endParaRPr lang="en-IN" sz="28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</a:t>
            </a:r>
            <a:endParaRPr lang="en-US" sz="30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07F6BB6-CD5E-45C9-8650-65F0FE829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746" y="696333"/>
            <a:ext cx="762345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💡 NEXUS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997F35-708F-4763-A83E-138CC5326D6A}"/>
              </a:ext>
            </a:extLst>
          </p:cNvPr>
          <p:cNvSpPr txBox="1"/>
          <p:nvPr/>
        </p:nvSpPr>
        <p:spPr>
          <a:xfrm>
            <a:off x="451945" y="130887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From FIR → Evidence → Intelligence → Action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6B0139-137F-4588-9EA9-22C8C2D02819}"/>
              </a:ext>
            </a:extLst>
          </p:cNvPr>
          <p:cNvSpPr txBox="1"/>
          <p:nvPr/>
        </p:nvSpPr>
        <p:spPr>
          <a:xfrm>
            <a:off x="383724" y="1943185"/>
            <a:ext cx="675815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FIR / CASE</a:t>
            </a:r>
          </a:p>
          <a:p>
            <a:r>
              <a:rPr lang="en-IN" dirty="0"/>
              <a:t>                  ↓</a:t>
            </a:r>
          </a:p>
          <a:p>
            <a:r>
              <a:rPr lang="en-IN" dirty="0"/>
              <a:t>          CASE UNDERSTANDING</a:t>
            </a:r>
          </a:p>
          <a:p>
            <a:r>
              <a:rPr lang="en-IN" dirty="0"/>
              <a:t>                  ↓</a:t>
            </a:r>
          </a:p>
          <a:p>
            <a:r>
              <a:rPr lang="en-IN" dirty="0"/>
              <a:t>       LEGAL &amp; ACCESS CONTROL</a:t>
            </a:r>
          </a:p>
          <a:p>
            <a:r>
              <a:rPr lang="en-IN" dirty="0"/>
              <a:t>                  ↓</a:t>
            </a:r>
          </a:p>
          <a:p>
            <a:r>
              <a:rPr lang="en-IN" dirty="0"/>
              <a:t>       AUTHORIZED DATA SOURCES</a:t>
            </a:r>
          </a:p>
          <a:p>
            <a:r>
              <a:rPr lang="en-IN" dirty="0"/>
              <a:t>                  ↓</a:t>
            </a:r>
          </a:p>
          <a:p>
            <a:r>
              <a:rPr lang="en-IN" dirty="0"/>
              <a:t>       DATA NORMALIZATION</a:t>
            </a:r>
          </a:p>
          <a:p>
            <a:r>
              <a:rPr lang="en-IN" dirty="0"/>
              <a:t>                  ↓</a:t>
            </a:r>
          </a:p>
          <a:p>
            <a:r>
              <a:rPr lang="en-IN" dirty="0"/>
              <a:t>        ENTITY RESOLUTION</a:t>
            </a:r>
          </a:p>
          <a:p>
            <a:r>
              <a:rPr lang="en-IN" dirty="0"/>
              <a:t>                  ↓</a:t>
            </a:r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5D6918-673D-4B75-A8E4-E69ECDDD7FB2}"/>
              </a:ext>
            </a:extLst>
          </p:cNvPr>
          <p:cNvSpPr txBox="1"/>
          <p:nvPr/>
        </p:nvSpPr>
        <p:spPr>
          <a:xfrm>
            <a:off x="6095999" y="1874607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KNOWLEDGE GRAPH</a:t>
            </a:r>
          </a:p>
          <a:p>
            <a:r>
              <a:rPr lang="en-IN" dirty="0"/>
              <a:t>                  ↓</a:t>
            </a:r>
          </a:p>
          <a:p>
            <a:r>
              <a:rPr lang="en-IN" dirty="0"/>
              <a:t> ┌───────────────┼────────────────┐</a:t>
            </a:r>
          </a:p>
          <a:p>
            <a:r>
              <a:rPr lang="en-IN" dirty="0"/>
              <a:t> ↓               ↓                ↓</a:t>
            </a:r>
          </a:p>
          <a:p>
            <a:r>
              <a:rPr lang="en-IN" dirty="0"/>
              <a:t>GRAPH AI      TEMPORAL AI      SPATIAL AI</a:t>
            </a:r>
          </a:p>
          <a:p>
            <a:r>
              <a:rPr lang="en-IN" dirty="0"/>
              <a:t> ↓               ↓                ↓</a:t>
            </a:r>
          </a:p>
          <a:p>
            <a:r>
              <a:rPr lang="en-IN" dirty="0"/>
              <a:t> └───────────────┼────────────────┘</a:t>
            </a:r>
          </a:p>
          <a:p>
            <a:r>
              <a:rPr lang="en-IN" dirty="0"/>
              <a:t>                  ↓</a:t>
            </a:r>
          </a:p>
          <a:p>
            <a:r>
              <a:rPr lang="en-IN" dirty="0"/>
              <a:t>       EXPLAINABLE AI LEADS</a:t>
            </a:r>
          </a:p>
          <a:p>
            <a:r>
              <a:rPr lang="en-IN" dirty="0"/>
              <a:t>                  ↓</a:t>
            </a:r>
          </a:p>
          <a:p>
            <a:r>
              <a:rPr lang="en-IN" dirty="0"/>
              <a:t>       INVESTIGATION GAPS</a:t>
            </a:r>
          </a:p>
          <a:p>
            <a:r>
              <a:rPr lang="en-IN" dirty="0"/>
              <a:t>                  ↓</a:t>
            </a:r>
          </a:p>
          <a:p>
            <a:r>
              <a:rPr lang="en-IN" dirty="0"/>
              <a:t>       NEXT-BEST ACTIONS</a:t>
            </a:r>
          </a:p>
          <a:p>
            <a:r>
              <a:rPr lang="en-IN" dirty="0"/>
              <a:t>                  ↓</a:t>
            </a:r>
          </a:p>
          <a:p>
            <a:r>
              <a:rPr lang="en-IN" dirty="0"/>
              <a:t>        HUMAN VERIFICATION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NEXUS WORKS</a:t>
            </a:r>
            <a:endParaRPr lang="en-US" sz="28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7AF460F-CF7E-4FFE-B7ED-96E985FA3CEB}"/>
              </a:ext>
            </a:extLst>
          </p:cNvPr>
          <p:cNvSpPr txBox="1"/>
          <p:nvPr/>
        </p:nvSpPr>
        <p:spPr>
          <a:xfrm>
            <a:off x="357352" y="10953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🔄 End-to-End Investigation Workflow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8813A1-164E-4AE3-AACE-0BF502E1CA22}"/>
              </a:ext>
            </a:extLst>
          </p:cNvPr>
          <p:cNvSpPr txBox="1"/>
          <p:nvPr/>
        </p:nvSpPr>
        <p:spPr>
          <a:xfrm>
            <a:off x="483476" y="1647577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01 — FIR Input</a:t>
            </a:r>
          </a:p>
          <a:p>
            <a:r>
              <a:rPr lang="en-US" dirty="0"/>
              <a:t>Upload/create an authorized case.</a:t>
            </a:r>
          </a:p>
          <a:p>
            <a:r>
              <a:rPr lang="en-US" b="1" dirty="0"/>
              <a:t>02 — AI Extraction</a:t>
            </a:r>
          </a:p>
          <a:p>
            <a:r>
              <a:rPr lang="en-US" dirty="0"/>
              <a:t>Extract: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People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Phone numbers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Vehicles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Locations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Organizations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Amounts </a:t>
            </a:r>
          </a:p>
          <a:p>
            <a:r>
              <a:rPr lang="en-US" b="1" dirty="0"/>
              <a:t>03 — Authorized Data Retrieval</a:t>
            </a:r>
          </a:p>
          <a:p>
            <a:r>
              <a:rPr lang="en-US" dirty="0"/>
              <a:t>Connect only to permitted sources.</a:t>
            </a:r>
          </a:p>
          <a:p>
            <a:r>
              <a:rPr lang="en-US" b="1" dirty="0"/>
              <a:t>04 — Data Fusion</a:t>
            </a:r>
          </a:p>
          <a:p>
            <a:r>
              <a:rPr lang="en-US" dirty="0"/>
              <a:t>Normalize different formats into a common structure.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B37F24-DAA7-4ADE-9E47-DF980EF53DAA}"/>
              </a:ext>
            </a:extLst>
          </p:cNvPr>
          <p:cNvSpPr txBox="1"/>
          <p:nvPr/>
        </p:nvSpPr>
        <p:spPr>
          <a:xfrm>
            <a:off x="6096000" y="1647577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05 — Relationship Discovery</a:t>
            </a:r>
          </a:p>
          <a:p>
            <a:r>
              <a:rPr lang="en-US" dirty="0"/>
              <a:t>Find relationships between entities.</a:t>
            </a:r>
          </a:p>
          <a:p>
            <a:r>
              <a:rPr lang="en-US" b="1" dirty="0"/>
              <a:t>06 — Intelligence Analysis</a:t>
            </a:r>
          </a:p>
          <a:p>
            <a:r>
              <a:rPr lang="en-US" dirty="0"/>
              <a:t>Analyze: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Time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Transactions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Video events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Historical cases </a:t>
            </a:r>
          </a:p>
          <a:p>
            <a:r>
              <a:rPr lang="en-US" b="1" dirty="0"/>
              <a:t>07 — Explainable Output</a:t>
            </a:r>
          </a:p>
          <a:p>
            <a:r>
              <a:rPr lang="en-US" dirty="0"/>
              <a:t>Generate leads + evidence + gaps + next actions.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+ KNOWLEDGE GRAPH</a:t>
            </a:r>
            <a:endParaRPr lang="en-US" sz="28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326603"/>
            <a:ext cx="93853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marR="0" lvl="0" indent="-45720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THE INTELLIGENCE ENGINE </a:t>
            </a:r>
          </a:p>
          <a:p>
            <a:pPr marL="457200" marR="0" lvl="0" indent="-45720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NLP / OCR → Extract entities and events from documents</a:t>
            </a:r>
          </a:p>
          <a:p>
            <a:pPr marL="457200" marR="0" lvl="0" indent="-45720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ENTITY RESOLUTION → Identify possible references to the same entity KNOWLEDGE GRAPH → Represent entities and relationships </a:t>
            </a:r>
          </a:p>
          <a:p>
            <a:pPr marL="457200" marR="0" lvl="0" indent="-45720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GRAPH AI → Discover important network structures and connections</a:t>
            </a:r>
          </a:p>
          <a:p>
            <a:pPr marL="457200" marR="0" lvl="0" indent="-45720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TEMPORAL ANALYSIS → Reconstruct what happened and when </a:t>
            </a:r>
          </a:p>
          <a:p>
            <a:pPr marL="457200" marR="0" lvl="0" indent="-45720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SPATIAL ANALYSIS → Understand where events occurred</a:t>
            </a:r>
          </a:p>
          <a:p>
            <a:pPr marL="457200" marR="0" lvl="0" indent="-45720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ANOMALY DETECTION → Identify unusual patterns for investigator review </a:t>
            </a:r>
          </a:p>
          <a:p>
            <a:pPr marL="457200" marR="0" lvl="0" indent="-45720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CROSS-CASE ANALYSIS → Discover potentially relevant relationships between the current case and authorized historical cases </a:t>
            </a:r>
          </a:p>
          <a:p>
            <a:pPr algn="just">
              <a:defRPr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OUTPUT:</a:t>
            </a:r>
          </a:p>
          <a:p>
            <a:pPr algn="just">
              <a:defRPr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AI does not simply say: “Person X is suspicious.” Instead it provides: “Here are the observed relationships and evidence signals that require investigator verification.”</a:t>
            </a:r>
          </a:p>
          <a:p>
            <a:pPr marL="457200" marR="0" lvl="0" indent="-45720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INVESTIGATION</a:t>
            </a:r>
            <a:endParaRPr lang="en-US" sz="28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1950" y="1042823"/>
            <a:ext cx="5927829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marR="0" lvl="0" indent="-45720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FROM AI SCORE → TO EVIDENCE-BACKED LEAD </a:t>
            </a:r>
          </a:p>
          <a:p>
            <a:pPr marL="457200" marR="0" lvl="0" indent="-45720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EXAMPLE : Potential Lead: Entity B </a:t>
            </a:r>
          </a:p>
          <a:p>
            <a:pPr marL="457200" marR="0" lvl="0" indent="-45720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OBSERVED SIGNALS </a:t>
            </a:r>
          </a:p>
          <a:p>
            <a:pPr marL="457200" marR="0" lvl="0" indent="-45720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18 relevant communication events</a:t>
            </a:r>
          </a:p>
          <a:p>
            <a:pPr marL="457200" marR="0" lvl="0" indent="-45720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3 location correlations</a:t>
            </a:r>
          </a:p>
          <a:p>
            <a:pPr marL="457200" marR="0" lvl="0" indent="-45720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2 transaction relationships </a:t>
            </a:r>
          </a:p>
          <a:p>
            <a:pPr marL="457200" marR="0" lvl="0" indent="-45720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4 relevant CCTV events</a:t>
            </a:r>
          </a:p>
          <a:p>
            <a:pPr marL="457200" marR="0" lvl="0" indent="-45720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2 historical case references </a:t>
            </a:r>
          </a:p>
          <a:p>
            <a:pPr marL="457200" marR="0" lvl="0" indent="-45720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NEXUS SHOWS </a:t>
            </a:r>
          </a:p>
          <a:p>
            <a:pPr marL="457200" marR="0" lvl="0" indent="-45720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WHY? → Relationship explanation </a:t>
            </a:r>
          </a:p>
          <a:p>
            <a:pPr marL="457200" marR="0" lvl="0" indent="-45720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WHEN? → Timeline </a:t>
            </a:r>
          </a:p>
          <a:p>
            <a:pPr marL="457200" marR="0" lvl="0" indent="-45720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WHERE? → Map/location correlation </a:t>
            </a:r>
          </a:p>
          <a:p>
            <a:pPr marL="457200" marR="0" lvl="0" indent="-45720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WHAT EVIDENCE? → Source-linked records</a:t>
            </a:r>
          </a:p>
          <a:p>
            <a:pPr marL="457200" marR="0" lvl="0" indent="-45720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HOW CONFIDENT? → Confidence level </a:t>
            </a:r>
          </a:p>
          <a:p>
            <a:pPr marL="457200" marR="0" lvl="0" indent="-45720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WHAT IS MISSING? → Investigation gaps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DCB7BF5-51D2-4D8A-ABF9-B21F7A3C6298}"/>
              </a:ext>
            </a:extLst>
          </p:cNvPr>
          <p:cNvSpPr txBox="1"/>
          <p:nvPr/>
        </p:nvSpPr>
        <p:spPr>
          <a:xfrm>
            <a:off x="6086018" y="1088266"/>
            <a:ext cx="481899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dirty="0"/>
              <a:t>WHAT NEXT? → Recommended verification actions CRITICAL PRINCIPLE A lead is NOT proof of guilt. NEXUS assists investigators; authorized officers make investigative and legal decisions.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849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INVESTIGATION GAP ENGINE </a:t>
            </a:r>
            <a:endParaRPr lang="en-US" sz="60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1951" y="1105882"/>
            <a:ext cx="5644050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NEXUS DOES NOT ONLY FIND WHAT IS KNOWN.</a:t>
            </a:r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000" dirty="0"/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IT ALSO IDENTIFIES WHAT IS MISSING.</a:t>
            </a:r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000" dirty="0"/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b="1" dirty="0"/>
              <a:t>EXAMPLE GAPS</a:t>
            </a:r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000" dirty="0"/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⚠ Vehicle relationship not verified</a:t>
            </a:r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000" dirty="0"/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⚠ One phone/entity remains unresolved</a:t>
            </a:r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000" dirty="0"/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⚠ Financial relationship incomplete</a:t>
            </a:r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000" dirty="0"/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⚠ CCTV coverage missing for a relevant time window</a:t>
            </a:r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B2BB97D-DADF-486E-9AC8-B45954EE0050}"/>
              </a:ext>
            </a:extLst>
          </p:cNvPr>
          <p:cNvSpPr txBox="1"/>
          <p:nvPr/>
        </p:nvSpPr>
        <p:spPr>
          <a:xfrm>
            <a:off x="6250200" y="1077176"/>
            <a:ext cx="60960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000" dirty="0"/>
              <a:t>⚠ Conflicting timestamps detected path.</a:t>
            </a:r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000" dirty="0"/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⚠ Historical case connection requires verification</a:t>
            </a:r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000" dirty="0"/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b="1" dirty="0"/>
              <a:t>NEXT-BEST ACTIONS</a:t>
            </a:r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000" dirty="0"/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1. Verify the vehicle relationship</a:t>
            </a:r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2. Review the relevant transaction</a:t>
            </a:r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3. Examine the missing CCTV interval</a:t>
            </a:r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4. Validate the entity relationship</a:t>
            </a:r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5. Compare the relevant historical case</a:t>
            </a:r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000" dirty="0"/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b="1" dirty="0"/>
              <a:t>RESULT</a:t>
            </a:r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000" dirty="0"/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Instead of giving investigators another large dataset,</a:t>
            </a:r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NEXUS provides a prioritized investigation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03196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SECURITY, LEGALITY &amp; INNOVATION</a:t>
            </a:r>
            <a:endParaRPr lang="en-US" sz="60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25524" y="1063837"/>
            <a:ext cx="5644050" cy="5122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/>
              <a:t>SECURITY BY DESIGN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/>
              <a:t>• Role-Based Access Control (RBAC)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/>
              <a:t>• Case-level permissions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/>
              <a:t>• Encryption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/>
              <a:t>• Audit logging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/>
              <a:t>• Evidence provenance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/>
              <a:t>• Secure API access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/>
              <a:t>• Data minimization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/>
              <a:t>• Human approval gates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000"/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78D7E01-EF71-43B8-A0BD-CF1E91FA1670}"/>
              </a:ext>
            </a:extLst>
          </p:cNvPr>
          <p:cNvSpPr txBox="1"/>
          <p:nvPr/>
        </p:nvSpPr>
        <p:spPr>
          <a:xfrm>
            <a:off x="5689600" y="1159017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WHAT MAKES NEXUS DIFFERENT?</a:t>
            </a:r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000" dirty="0"/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1. FIR-to-intelligence pipeline</a:t>
            </a:r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2. Multi-source evidence correlation</a:t>
            </a:r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3. Knowledge-graph-based investigation</a:t>
            </a:r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4. Time + location + relationship analysis</a:t>
            </a:r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5. Cross-case intelligence</a:t>
            </a:r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6. Investigation-gap detection</a:t>
            </a:r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7. Explainable AI</a:t>
            </a:r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8. Evidence provenance</a:t>
            </a:r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9. Next-best investigative actions</a:t>
            </a:r>
          </a:p>
          <a:p>
            <a:pPr marR="0" lvl="0" algn="just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10. Human-in-the-loop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3414895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IMPACT, FEASIBILITY &amp; FUTURE</a:t>
            </a:r>
            <a:endParaRPr lang="en-US" sz="60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25524" y="759038"/>
            <a:ext cx="5644050" cy="6046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b="1" dirty="0"/>
              <a:t>EXPECTED IMPACT FOR INVESTIGATORS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• Reduce repetitive manual searching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• Find relationships faster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• Prioritize relevant leads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• Reconstruct complex timelines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• Identify cross-case connections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• Detect missing investigative information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FOR THE ORGANIZATION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• Faster intelligence analysis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• Better evidence traceability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• Reduced information fragmentation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• More consistent analytical workflow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C6961A0-C3F2-4DF9-B67D-2A4DC30A9D4C}"/>
              </a:ext>
            </a:extLst>
          </p:cNvPr>
          <p:cNvSpPr txBox="1"/>
          <p:nvPr/>
        </p:nvSpPr>
        <p:spPr>
          <a:xfrm>
            <a:off x="5393198" y="759038"/>
            <a:ext cx="6096000" cy="5450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1800" dirty="0"/>
              <a:t>SIH PROTOTYPE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1800" dirty="0"/>
              <a:t>FIR PDF + Synthetic / Authorized Data + CDR + GPS + CCTV + Vehicle Data + Transactions</a:t>
            </a:r>
            <a:r>
              <a:rPr lang="en-US" dirty="0"/>
              <a:t> </a:t>
            </a:r>
            <a:r>
              <a:rPr lang="en-US" sz="1800" dirty="0"/>
              <a:t>+ Historical Cases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1800" dirty="0"/>
              <a:t>        ↓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1800" dirty="0"/>
              <a:t>      NEXUS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1800" dirty="0"/>
              <a:t>        ↓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1800" dirty="0"/>
              <a:t>Graph + Timeline + Map + Explainable Leads + Investigation Gaps + Recommended Actions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1800" dirty="0"/>
              <a:t>FEASIBILITY 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1800" dirty="0"/>
              <a:t>The core technologies already exist: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1800" dirty="0"/>
              <a:t>NLP • OCR • Knowledge Graphs • Computer Vision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1800" dirty="0"/>
              <a:t>Graph Analytics • Search • Anomaly </a:t>
            </a:r>
            <a:r>
              <a:rPr lang="en-US" sz="1800" dirty="0" err="1"/>
              <a:t>DetectioN</a:t>
            </a:r>
            <a:endParaRPr lang="en-US" sz="1800" dirty="0"/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1800" dirty="0"/>
              <a:t>Intelligence.”</a:t>
            </a:r>
          </a:p>
        </p:txBody>
      </p:sp>
    </p:spTree>
    <p:extLst>
      <p:ext uri="{BB962C8B-B14F-4D97-AF65-F5344CB8AC3E}">
        <p14:creationId xmlns:p14="http://schemas.microsoft.com/office/powerpoint/2010/main" val="1920285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IMPACT, FEASIBILITY &amp; FUTURE</a:t>
            </a:r>
            <a:endParaRPr lang="en-US" sz="60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25524" y="927198"/>
            <a:ext cx="5644050" cy="5122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b="1" dirty="0"/>
              <a:t>Production deployment requires: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Official data integration + legal authorization +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security validation + accuracy testing.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b="1" dirty="0"/>
              <a:t>FINAL VISION</a:t>
            </a:r>
            <a:endParaRPr lang="en-US" sz="2000" dirty="0"/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NEXUS is not an AI that accuses people.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It is an AI-assisted intelligence layer that helps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authorized investigators connect evidence faster,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understand complex relationships, identify gaps,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and make better-informed investigative decisions.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b="1" dirty="0"/>
              <a:t>NEXUS</a:t>
            </a:r>
            <a:endParaRPr lang="en-US" sz="2000" dirty="0"/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“One Case. Connected Evidence. Explainable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D9A6E9E-5494-4A42-896B-D4974BD86C6C}"/>
              </a:ext>
            </a:extLst>
          </p:cNvPr>
          <p:cNvSpPr txBox="1"/>
          <p:nvPr/>
        </p:nvSpPr>
        <p:spPr>
          <a:xfrm>
            <a:off x="5870027" y="925075"/>
            <a:ext cx="6096000" cy="3271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kern="1200" dirty="0">
                <a:solidFill>
                  <a:srgbClr val="000000"/>
                </a:solidFill>
                <a:effectLst/>
                <a:latin typeface="+mj-lt"/>
                <a:ea typeface="ＭＳ Ｐゴシック" panose="020B0600070205080204" pitchFamily="34" charset="-128"/>
                <a:cs typeface="+mn-cs"/>
              </a:rPr>
              <a:t>NEXUS WILL NOT:</a:t>
            </a:r>
            <a:endParaRPr lang="en-IN" sz="2000" b="1" dirty="0">
              <a:effectLst/>
              <a:latin typeface="+mj-lt"/>
            </a:endParaRPr>
          </a:p>
          <a:p>
            <a:pPr marL="0" marR="0" algn="just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kern="1200" dirty="0">
                <a:solidFill>
                  <a:srgbClr val="000000"/>
                </a:solidFill>
                <a:effectLst/>
                <a:latin typeface="+mj-lt"/>
                <a:ea typeface="ＭＳ Ｐゴシック" panose="020B0600070205080204" pitchFamily="34" charset="-128"/>
                <a:cs typeface="+mn-cs"/>
              </a:rPr>
              <a:t>✗ Secretly intercept calls</a:t>
            </a:r>
            <a:endParaRPr lang="en-IN" sz="2000" dirty="0">
              <a:effectLst/>
              <a:latin typeface="+mj-lt"/>
            </a:endParaRPr>
          </a:p>
          <a:p>
            <a:pPr marL="0" marR="0" algn="just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kern="1200" dirty="0">
                <a:solidFill>
                  <a:srgbClr val="000000"/>
                </a:solidFill>
                <a:effectLst/>
                <a:latin typeface="+mj-lt"/>
                <a:ea typeface="ＭＳ Ｐゴシック" panose="020B0600070205080204" pitchFamily="34" charset="-128"/>
                <a:cs typeface="+mn-cs"/>
              </a:rPr>
              <a:t>✗ Hack devices</a:t>
            </a:r>
            <a:endParaRPr lang="en-IN" sz="2000" dirty="0">
              <a:effectLst/>
              <a:latin typeface="+mj-lt"/>
            </a:endParaRPr>
          </a:p>
          <a:p>
            <a:pPr marL="0" marR="0" algn="just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kern="1200" dirty="0">
                <a:solidFill>
                  <a:srgbClr val="000000"/>
                </a:solidFill>
                <a:effectLst/>
                <a:latin typeface="+mj-lt"/>
                <a:ea typeface="ＭＳ Ｐゴシック" panose="020B0600070205080204" pitchFamily="34" charset="-128"/>
                <a:cs typeface="+mn-cs"/>
              </a:rPr>
              <a:t>✗ Bypass databases</a:t>
            </a:r>
            <a:endParaRPr lang="en-IN" sz="2000" dirty="0">
              <a:effectLst/>
              <a:latin typeface="+mj-lt"/>
            </a:endParaRPr>
          </a:p>
          <a:p>
            <a:pPr marL="0" marR="0" algn="just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kern="1200" dirty="0">
                <a:solidFill>
                  <a:srgbClr val="000000"/>
                </a:solidFill>
                <a:effectLst/>
                <a:latin typeface="+mj-lt"/>
                <a:ea typeface="ＭＳ Ｐゴシック" panose="020B0600070205080204" pitchFamily="34" charset="-128"/>
                <a:cs typeface="+mn-cs"/>
              </a:rPr>
              <a:t>✗ Access private information without authorization</a:t>
            </a:r>
            <a:endParaRPr lang="en-IN" sz="2000" dirty="0">
              <a:effectLst/>
              <a:latin typeface="+mj-lt"/>
            </a:endParaRPr>
          </a:p>
          <a:p>
            <a:pPr marL="0" marR="0" algn="just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kern="1200" dirty="0">
                <a:solidFill>
                  <a:srgbClr val="000000"/>
                </a:solidFill>
                <a:effectLst/>
                <a:latin typeface="+mj-lt"/>
                <a:ea typeface="ＭＳ Ｐゴシック" panose="020B0600070205080204" pitchFamily="34" charset="-128"/>
                <a:cs typeface="+mn-cs"/>
              </a:rPr>
              <a:t>✗ Automatically declare a person guilty</a:t>
            </a:r>
            <a:endParaRPr lang="en-IN" sz="2000" dirty="0">
              <a:effectLst/>
              <a:latin typeface="+mj-lt"/>
            </a:endParaRPr>
          </a:p>
          <a:p>
            <a:pPr marL="0" marR="0" algn="just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kern="1200" dirty="0">
                <a:solidFill>
                  <a:srgbClr val="000000"/>
                </a:solidFill>
                <a:effectLst/>
                <a:latin typeface="+mj-lt"/>
                <a:ea typeface="ＭＳ Ｐゴシック" panose="020B0600070205080204" pitchFamily="34" charset="-128"/>
                <a:cs typeface="+mn-cs"/>
              </a:rPr>
              <a:t>✗ Replace legal/investigative authority</a:t>
            </a:r>
            <a:endParaRPr lang="en-IN" sz="200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12588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IMPACT, FEASIBILITY &amp; FUTURE</a:t>
            </a:r>
            <a:endParaRPr lang="en-US" sz="60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25524" y="927198"/>
            <a:ext cx="5644050" cy="5122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b="1" dirty="0"/>
              <a:t>Production deployment requires: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Official data integration + legal authorization +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security validation + accuracy testing.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b="1" dirty="0"/>
              <a:t>FINAL VISION</a:t>
            </a:r>
            <a:endParaRPr lang="en-US" sz="2000" dirty="0"/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NEXUS is not an AI that accuses people.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It is an AI-assisted intelligence layer that helps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authorized investigators connect evidence faster,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understand complex relationships, identify gaps,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and make better-informed investigative decisions.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b="1" dirty="0"/>
              <a:t>NEXUS</a:t>
            </a:r>
            <a:endParaRPr lang="en-US" sz="2000" dirty="0"/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/>
              <a:t>“One Case. Connected Evidence. Explainable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D9A6E9E-5494-4A42-896B-D4974BD86C6C}"/>
              </a:ext>
            </a:extLst>
          </p:cNvPr>
          <p:cNvSpPr txBox="1"/>
          <p:nvPr/>
        </p:nvSpPr>
        <p:spPr>
          <a:xfrm>
            <a:off x="5870027" y="925075"/>
            <a:ext cx="6096000" cy="3271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kern="1200" dirty="0">
                <a:solidFill>
                  <a:srgbClr val="000000"/>
                </a:solidFill>
                <a:effectLst/>
                <a:latin typeface="+mj-lt"/>
                <a:ea typeface="ＭＳ Ｐゴシック" panose="020B0600070205080204" pitchFamily="34" charset="-128"/>
                <a:cs typeface="+mn-cs"/>
              </a:rPr>
              <a:t>NEXUS WILL NOT:</a:t>
            </a:r>
            <a:endParaRPr lang="en-IN" sz="2000" b="1" dirty="0">
              <a:effectLst/>
              <a:latin typeface="+mj-lt"/>
            </a:endParaRPr>
          </a:p>
          <a:p>
            <a:pPr marL="0" marR="0" algn="just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kern="1200" dirty="0">
                <a:solidFill>
                  <a:srgbClr val="000000"/>
                </a:solidFill>
                <a:effectLst/>
                <a:latin typeface="+mj-lt"/>
                <a:ea typeface="ＭＳ Ｐゴシック" panose="020B0600070205080204" pitchFamily="34" charset="-128"/>
                <a:cs typeface="+mn-cs"/>
              </a:rPr>
              <a:t>✗ Secretly intercept calls</a:t>
            </a:r>
            <a:endParaRPr lang="en-IN" sz="2000" dirty="0">
              <a:effectLst/>
              <a:latin typeface="+mj-lt"/>
            </a:endParaRPr>
          </a:p>
          <a:p>
            <a:pPr marL="0" marR="0" algn="just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kern="1200" dirty="0">
                <a:solidFill>
                  <a:srgbClr val="000000"/>
                </a:solidFill>
                <a:effectLst/>
                <a:latin typeface="+mj-lt"/>
                <a:ea typeface="ＭＳ Ｐゴシック" panose="020B0600070205080204" pitchFamily="34" charset="-128"/>
                <a:cs typeface="+mn-cs"/>
              </a:rPr>
              <a:t>✗ Hack devices</a:t>
            </a:r>
            <a:endParaRPr lang="en-IN" sz="2000" dirty="0">
              <a:effectLst/>
              <a:latin typeface="+mj-lt"/>
            </a:endParaRPr>
          </a:p>
          <a:p>
            <a:pPr marL="0" marR="0" algn="just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kern="1200" dirty="0">
                <a:solidFill>
                  <a:srgbClr val="000000"/>
                </a:solidFill>
                <a:effectLst/>
                <a:latin typeface="+mj-lt"/>
                <a:ea typeface="ＭＳ Ｐゴシック" panose="020B0600070205080204" pitchFamily="34" charset="-128"/>
                <a:cs typeface="+mn-cs"/>
              </a:rPr>
              <a:t>✗ Bypass databases</a:t>
            </a:r>
            <a:endParaRPr lang="en-IN" sz="2000" dirty="0">
              <a:effectLst/>
              <a:latin typeface="+mj-lt"/>
            </a:endParaRPr>
          </a:p>
          <a:p>
            <a:pPr marL="0" marR="0" algn="just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kern="1200" dirty="0">
                <a:solidFill>
                  <a:srgbClr val="000000"/>
                </a:solidFill>
                <a:effectLst/>
                <a:latin typeface="+mj-lt"/>
                <a:ea typeface="ＭＳ Ｐゴシック" panose="020B0600070205080204" pitchFamily="34" charset="-128"/>
                <a:cs typeface="+mn-cs"/>
              </a:rPr>
              <a:t>✗ Access private information without authorization</a:t>
            </a:r>
            <a:endParaRPr lang="en-IN" sz="2000" dirty="0">
              <a:effectLst/>
              <a:latin typeface="+mj-lt"/>
            </a:endParaRPr>
          </a:p>
          <a:p>
            <a:pPr marL="0" marR="0" algn="just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kern="1200" dirty="0">
                <a:solidFill>
                  <a:srgbClr val="000000"/>
                </a:solidFill>
                <a:effectLst/>
                <a:latin typeface="+mj-lt"/>
                <a:ea typeface="ＭＳ Ｐゴシック" panose="020B0600070205080204" pitchFamily="34" charset="-128"/>
                <a:cs typeface="+mn-cs"/>
              </a:rPr>
              <a:t>✗ Automatically declare a person guilty</a:t>
            </a:r>
            <a:endParaRPr lang="en-IN" sz="2000" dirty="0">
              <a:effectLst/>
              <a:latin typeface="+mj-lt"/>
            </a:endParaRPr>
          </a:p>
          <a:p>
            <a:pPr marL="0" marR="0" algn="just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kern="1200" dirty="0">
                <a:solidFill>
                  <a:srgbClr val="000000"/>
                </a:solidFill>
                <a:effectLst/>
                <a:latin typeface="+mj-lt"/>
                <a:ea typeface="ＭＳ Ｐゴシック" panose="020B0600070205080204" pitchFamily="34" charset="-128"/>
                <a:cs typeface="+mn-cs"/>
              </a:rPr>
              <a:t>✗ Replace legal/investigative authority</a:t>
            </a:r>
            <a:endParaRPr lang="en-IN" sz="200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76102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57050" y="-5585"/>
            <a:ext cx="10972800" cy="11430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FINNAL SUMMARY </a:t>
            </a:r>
            <a:endParaRPr lang="en-US" sz="60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D9A6E9E-5494-4A42-896B-D4974BD86C6C}"/>
              </a:ext>
            </a:extLst>
          </p:cNvPr>
          <p:cNvSpPr txBox="1"/>
          <p:nvPr/>
        </p:nvSpPr>
        <p:spPr>
          <a:xfrm>
            <a:off x="5870027" y="925075"/>
            <a:ext cx="609600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IN" sz="2000" dirty="0">
              <a:effectLst/>
              <a:latin typeface="+mj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BF6FD5-586B-4FFC-8CCD-967D820EC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427524"/>
            <a:ext cx="10752089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an AI-powered investigation intelligence platform that connects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 and legally authorized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such as CDR, GPS, CCTV, vehicle, transaction, and previous-case records into one secure system.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AI, Knowledge Graphs, timeline and location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discover relationships, identify patterns, connect related cases, find investigation gaps, and provide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explainable leads and next investigative actions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NEXUS reduces manual investigation time while keeping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security, legal authorization, evidence traceability, and human verification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 the center.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NEXUS — Connect Evidence. Discover Intelligence. Investigate Faster.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🔍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078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7600</TotalTime>
  <Words>1427</Words>
  <Application>Microsoft Office PowerPoint</Application>
  <PresentationFormat>Widescreen</PresentationFormat>
  <Paragraphs>306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NEXUS –  Networked Evidence &amp; Investigation Intelligence System </vt:lpstr>
      <vt:lpstr>EXISTING GAP</vt:lpstr>
      <vt:lpstr>OUR SOLUTION</vt:lpstr>
      <vt:lpstr>HOW NEXUS WORKS</vt:lpstr>
      <vt:lpstr>AI + KNOWLEDGE GRAPH</vt:lpstr>
      <vt:lpstr>EXPLAINABLE INVESTIGATION</vt:lpstr>
      <vt:lpstr>INVESTIGATION GAP ENGINE </vt:lpstr>
      <vt:lpstr>SECURITY, LEGALITY &amp; INNOVATION</vt:lpstr>
      <vt:lpstr>IMPACT, FEASIBILITY &amp; FUTURE</vt:lpstr>
      <vt:lpstr>IMPACT, FEASIBILITY &amp; FUTURE</vt:lpstr>
      <vt:lpstr>IMPACT, FEASIBILITY &amp; FUTURE</vt:lpstr>
      <vt:lpstr>FINNAL SUMMARY 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HP</cp:lastModifiedBy>
  <cp:revision>159</cp:revision>
  <dcterms:created xsi:type="dcterms:W3CDTF">2013-12-12T18:46:50Z</dcterms:created>
  <dcterms:modified xsi:type="dcterms:W3CDTF">2026-08-27T05:57:51Z</dcterms:modified>
  <cp:category/>
</cp:coreProperties>
</file>